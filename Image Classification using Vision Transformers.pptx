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6"/>
  </p:notesMasterIdLst>
  <p:sldIdLst>
    <p:sldId id="256" r:id="rId2"/>
    <p:sldId id="297" r:id="rId3"/>
    <p:sldId id="303" r:id="rId4"/>
    <p:sldId id="298" r:id="rId5"/>
    <p:sldId id="304" r:id="rId6"/>
    <p:sldId id="306" r:id="rId7"/>
    <p:sldId id="307" r:id="rId8"/>
    <p:sldId id="316" r:id="rId9"/>
    <p:sldId id="317" r:id="rId10"/>
    <p:sldId id="318" r:id="rId11"/>
    <p:sldId id="319" r:id="rId12"/>
    <p:sldId id="320" r:id="rId13"/>
    <p:sldId id="321" r:id="rId14"/>
    <p:sldId id="300" r:id="rId15"/>
    <p:sldId id="308" r:id="rId16"/>
    <p:sldId id="309" r:id="rId17"/>
    <p:sldId id="299" r:id="rId18"/>
    <p:sldId id="311" r:id="rId19"/>
    <p:sldId id="322" r:id="rId20"/>
    <p:sldId id="301" r:id="rId21"/>
    <p:sldId id="323" r:id="rId22"/>
    <p:sldId id="315" r:id="rId23"/>
    <p:sldId id="302" r:id="rId24"/>
    <p:sldId id="314" r:id="rId2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Roboto Slab" pitchFamily="2" charset="0"/>
      <p:regular r:id="rId31"/>
      <p:bold r:id="rId32"/>
    </p:embeddedFont>
    <p:embeddedFont>
      <p:font typeface="Source Sans Pro" panose="020B050303040302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1FB10D-A61A-4DE4-8506-F670E7A89527}">
  <a:tblStyle styleId="{701FB10D-A61A-4DE4-8506-F670E7A895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98DAF6-0271-4389-B3DC-BA433CC306D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39" autoAdjust="0"/>
  </p:normalViewPr>
  <p:slideViewPr>
    <p:cSldViewPr snapToGrid="0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8528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2632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8207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1866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0437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9385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1953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968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1002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3193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794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81937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6286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9208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3715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23481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8148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91698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73708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70423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69865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90039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7759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786137" y="1200150"/>
            <a:ext cx="3675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4682659" y="1200150"/>
            <a:ext cx="3675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◎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◉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2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3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◎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◉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Image Classification using Vision Transformers</a:t>
            </a:r>
          </a:p>
        </p:txBody>
      </p:sp>
      <p:sp>
        <p:nvSpPr>
          <p:cNvPr id="2" name="Google Shape;70;p12">
            <a:extLst>
              <a:ext uri="{FF2B5EF4-FFF2-40B4-BE49-F238E27FC236}">
                <a16:creationId xmlns:a16="http://schemas.microsoft.com/office/drawing/2014/main" id="{C185F6AA-F888-A200-EC93-7F55384EB2B6}"/>
              </a:ext>
            </a:extLst>
          </p:cNvPr>
          <p:cNvSpPr txBox="1">
            <a:spLocks/>
          </p:cNvSpPr>
          <p:nvPr/>
        </p:nvSpPr>
        <p:spPr>
          <a:xfrm>
            <a:off x="1700185" y="315165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800"/>
              <a:buFont typeface="Roboto Slab"/>
              <a:buNone/>
              <a:defRPr sz="58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2000" dirty="0"/>
              <a:t>A Comparative Study with CNN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ctrTitle"/>
          </p:nvPr>
        </p:nvSpPr>
        <p:spPr>
          <a:xfrm>
            <a:off x="591312" y="1991850"/>
            <a:ext cx="7961375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Definition </a:t>
            </a:r>
            <a:br>
              <a:rPr lang="en-US" dirty="0"/>
            </a:br>
            <a:r>
              <a:rPr lang="en-US" dirty="0"/>
              <a:t>&amp; Objective</a:t>
            </a:r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5160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Definition &amp; Objective</a:t>
            </a:r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CIFAR-10 Dataset</a:t>
            </a:r>
          </a:p>
          <a:p>
            <a:pPr marL="285750" indent="-285750">
              <a:buClrTx/>
            </a:pPr>
            <a:r>
              <a:rPr lang="en-US" sz="1400" dirty="0">
                <a:latin typeface="+mn-ea"/>
                <a:ea typeface="+mn-ea"/>
              </a:rPr>
              <a:t>10</a:t>
            </a:r>
            <a:r>
              <a:rPr lang="ko-KR" altLang="en-US" sz="1400" dirty="0">
                <a:latin typeface="+mn-ea"/>
                <a:ea typeface="+mn-ea"/>
              </a:rPr>
              <a:t>개의 클래스와 </a:t>
            </a:r>
            <a:r>
              <a:rPr lang="en-US" altLang="ko-KR" sz="1400" dirty="0">
                <a:latin typeface="+mn-ea"/>
                <a:ea typeface="+mn-ea"/>
              </a:rPr>
              <a:t>6</a:t>
            </a:r>
            <a:r>
              <a:rPr lang="ko-KR" altLang="en-US" sz="1400" dirty="0">
                <a:latin typeface="+mn-ea"/>
                <a:ea typeface="+mn-ea"/>
              </a:rPr>
              <a:t>만 장의 이미지</a:t>
            </a:r>
            <a:endParaRPr lang="en-US" altLang="ko-KR" sz="1400" dirty="0">
              <a:latin typeface="+mn-ea"/>
              <a:ea typeface="+mn-ea"/>
            </a:endParaRPr>
          </a:p>
          <a:p>
            <a:pPr marL="285750" indent="-285750">
              <a:buClrTx/>
            </a:pPr>
            <a:r>
              <a:rPr lang="ko-KR" altLang="en-US" sz="1400" dirty="0">
                <a:latin typeface="+mn-ea"/>
                <a:ea typeface="+mn-ea"/>
              </a:rPr>
              <a:t>작은 크기와 낮은 해상도</a:t>
            </a:r>
            <a:endParaRPr lang="en-US" altLang="ko-KR" sz="1400" dirty="0">
              <a:latin typeface="+mn-ea"/>
              <a:ea typeface="+mn-ea"/>
            </a:endParaRPr>
          </a:p>
          <a:p>
            <a:pPr marL="285750" indent="-285750">
              <a:buClrTx/>
            </a:pPr>
            <a:endParaRPr lang="en-US" sz="1600" dirty="0">
              <a:latin typeface="+mn-ea"/>
              <a:ea typeface="+mn-ea"/>
            </a:endParaRPr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2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ko-KR" b="1" dirty="0"/>
              <a:t>Medical Domain</a:t>
            </a:r>
          </a:p>
          <a:p>
            <a:pPr marL="285750" indent="-285750">
              <a:buClrTx/>
            </a:pPr>
            <a:r>
              <a:rPr lang="ko-KR" altLang="en-US" sz="1400" dirty="0">
                <a:latin typeface="+mn-ea"/>
                <a:ea typeface="+mn-ea"/>
              </a:rPr>
              <a:t>조기 진단을 위한 </a:t>
            </a:r>
            <a:r>
              <a:rPr lang="en-US" altLang="ko-KR" sz="1400" dirty="0">
                <a:latin typeface="+mn-ea"/>
                <a:ea typeface="+mn-ea"/>
              </a:rPr>
              <a:t>Recall</a:t>
            </a:r>
          </a:p>
          <a:p>
            <a:pPr marL="285750" indent="-285750">
              <a:buClrTx/>
            </a:pPr>
            <a:r>
              <a:rPr lang="ko-KR" altLang="en-US" sz="1400" dirty="0">
                <a:latin typeface="+mn-ea"/>
                <a:ea typeface="+mn-ea"/>
              </a:rPr>
              <a:t>잘못된 양성을 줄이는 </a:t>
            </a:r>
            <a:r>
              <a:rPr lang="en-US" altLang="ko-KR" sz="1400" dirty="0">
                <a:latin typeface="+mn-ea"/>
                <a:ea typeface="+mn-ea"/>
              </a:rPr>
              <a:t>Precision</a:t>
            </a:r>
          </a:p>
          <a:p>
            <a:pPr marL="285750" indent="-285750">
              <a:buClrTx/>
            </a:pPr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143" name="Google Shape;143;p20"/>
          <p:cNvSpPr txBox="1">
            <a:spLocks noGrp="1"/>
          </p:cNvSpPr>
          <p:nvPr>
            <p:ph type="body" idx="3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No Transfer Learning</a:t>
            </a:r>
            <a:endParaRPr b="1" dirty="0"/>
          </a:p>
          <a:p>
            <a:pPr marL="285750" indent="-285750">
              <a:buClrTx/>
            </a:pPr>
            <a:r>
              <a:rPr lang="ko-KR" altLang="en-US" sz="1400" dirty="0">
                <a:latin typeface="+mn-ea"/>
                <a:ea typeface="+mn-ea"/>
              </a:rPr>
              <a:t>모델 아키텍처에 대한 이해</a:t>
            </a:r>
            <a:endParaRPr lang="en-US" altLang="ko-KR" sz="1400" dirty="0">
              <a:latin typeface="+mn-ea"/>
              <a:ea typeface="+mn-ea"/>
            </a:endParaRPr>
          </a:p>
          <a:p>
            <a:pPr marL="285750" indent="-285750">
              <a:buClrTx/>
            </a:pPr>
            <a:r>
              <a:rPr lang="ko-KR" altLang="en-US" sz="1400" dirty="0">
                <a:latin typeface="+mn-ea"/>
                <a:ea typeface="+mn-ea"/>
              </a:rPr>
              <a:t>모델 구현 능력</a:t>
            </a:r>
            <a:endParaRPr lang="en-US" altLang="ko-KR" sz="1400" dirty="0">
              <a:latin typeface="+mn-ea"/>
              <a:ea typeface="+mn-ea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" name="Google Shape;111;p17">
            <a:extLst>
              <a:ext uri="{FF2B5EF4-FFF2-40B4-BE49-F238E27FC236}">
                <a16:creationId xmlns:a16="http://schemas.microsoft.com/office/drawing/2014/main" id="{4D5D7F85-2134-AD93-53C0-3B953877E32A}"/>
              </a:ext>
            </a:extLst>
          </p:cNvPr>
          <p:cNvSpPr txBox="1">
            <a:spLocks/>
          </p:cNvSpPr>
          <p:nvPr/>
        </p:nvSpPr>
        <p:spPr>
          <a:xfrm>
            <a:off x="786150" y="3389376"/>
            <a:ext cx="7571700" cy="1445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◎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◉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ko-KR" altLang="en-US" sz="1400" b="1" dirty="0">
                <a:latin typeface="+mn-ea"/>
                <a:ea typeface="+mn-ea"/>
              </a:rPr>
              <a:t>목표</a:t>
            </a:r>
            <a:endParaRPr lang="en-US" altLang="ko-KR" sz="1400" b="1" dirty="0">
              <a:latin typeface="+mn-ea"/>
              <a:ea typeface="+mn-ea"/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적은 데이터셋에서 충분한 성능을 보여야 함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학습의 효율성 보다는 얼마나 잘 분류할 수 있는지 성능이 중요함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순수한 모델의 성능 비교를 위해 전이 학습 배제</a:t>
            </a:r>
            <a:endParaRPr 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4903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ctrTitle"/>
          </p:nvPr>
        </p:nvSpPr>
        <p:spPr>
          <a:xfrm>
            <a:off x="591312" y="1991850"/>
            <a:ext cx="7961375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Selection </a:t>
            </a:r>
            <a:br>
              <a:rPr lang="en-US" dirty="0"/>
            </a:br>
            <a:r>
              <a:rPr lang="en-US" dirty="0"/>
              <a:t>&amp; Implementation</a:t>
            </a:r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7864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Selection &amp; Implementation</a:t>
            </a:r>
          </a:p>
        </p:txBody>
      </p:sp>
      <p:graphicFrame>
        <p:nvGraphicFramePr>
          <p:cNvPr id="215" name="Google Shape;215;p25"/>
          <p:cNvGraphicFramePr/>
          <p:nvPr>
            <p:extLst>
              <p:ext uri="{D42A27DB-BD31-4B8C-83A1-F6EECF244321}">
                <p14:modId xmlns:p14="http://schemas.microsoft.com/office/powerpoint/2010/main" val="540676399"/>
              </p:ext>
            </p:extLst>
          </p:nvPr>
        </p:nvGraphicFramePr>
        <p:xfrm>
          <a:off x="1142262" y="1625441"/>
          <a:ext cx="6859475" cy="2505125"/>
        </p:xfrm>
        <a:graphic>
          <a:graphicData uri="http://schemas.openxmlformats.org/drawingml/2006/table">
            <a:tbl>
              <a:tblPr>
                <a:noFill/>
                <a:tableStyleId>{701FB10D-A61A-4DE4-8506-F670E7A89527}</a:tableStyleId>
              </a:tblPr>
              <a:tblGrid>
                <a:gridCol w="1409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9487">
                  <a:extLst>
                    <a:ext uri="{9D8B030D-6E8A-4147-A177-3AD203B41FA5}">
                      <a16:colId xmlns:a16="http://schemas.microsoft.com/office/drawing/2014/main" val="3324954802"/>
                    </a:ext>
                  </a:extLst>
                </a:gridCol>
              </a:tblGrid>
              <a:tr h="501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특징</a:t>
                      </a:r>
                      <a:endParaRPr sz="1100" dirty="0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ViT</a:t>
                      </a:r>
                      <a:endParaRPr sz="1100" dirty="0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자연어 처리에서 좋은 성능을 보인 </a:t>
                      </a:r>
                      <a:r>
                        <a:rPr lang="en-US" altLang="ko-KR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Transformer </a:t>
                      </a:r>
                      <a:r>
                        <a:rPr lang="ko-KR" altLang="en-US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구조를 </a:t>
                      </a:r>
                      <a:r>
                        <a:rPr lang="en-US" altLang="ko-KR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Vision Task</a:t>
                      </a:r>
                      <a:r>
                        <a:rPr lang="ko-KR" altLang="en-US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에 적용한 모델</a:t>
                      </a:r>
                      <a:r>
                        <a:rPr lang="en-US" altLang="ko-KR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대규모 데이터셋에 적합</a:t>
                      </a:r>
                      <a:endParaRPr sz="1100" b="0" dirty="0">
                        <a:solidFill>
                          <a:srgbClr val="263238"/>
                        </a:solidFill>
                        <a:latin typeface="+mn-ea"/>
                        <a:ea typeface="+mn-ea"/>
                        <a:cs typeface="Source Sans Pro"/>
                        <a:sym typeface="Source Sans Pr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DeiT</a:t>
                      </a:r>
                      <a:endParaRPr sz="1100" dirty="0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지식 증류를 통해 적은 데이터셋에서도 비교적 좋은 성능을 보임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학생</a:t>
                      </a:r>
                      <a:r>
                        <a:rPr lang="en-US" altLang="ko-KR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-</a:t>
                      </a:r>
                      <a:r>
                        <a:rPr lang="ko-KR" altLang="en-US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교사 방식으로 학습 효율성 향상</a:t>
                      </a: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Swin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Transformer</a:t>
                      </a:r>
                      <a:endParaRPr sz="1100" b="1" dirty="0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계층적 구조로 적은 데이터셋에서도 성능 향상</a:t>
                      </a:r>
                      <a:endParaRPr lang="en-US" altLang="ko-KR" sz="1100" b="1" dirty="0">
                        <a:solidFill>
                          <a:srgbClr val="263238"/>
                        </a:solidFill>
                        <a:latin typeface="+mn-ea"/>
                        <a:ea typeface="+mn-ea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윈도우 기반 연산으로 효율성 향상</a:t>
                      </a:r>
                      <a:endParaRPr lang="en-US" altLang="ko-KR" sz="1100" b="1" dirty="0">
                        <a:solidFill>
                          <a:srgbClr val="263238"/>
                        </a:solidFill>
                        <a:latin typeface="+mn-ea"/>
                        <a:ea typeface="+mn-ea"/>
                        <a:cs typeface="Source Sans Pro"/>
                        <a:sym typeface="Source Sans Pr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Tiny Transformer</a:t>
                      </a:r>
                      <a:endParaRPr sz="1100" dirty="0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적은 파라미터로 동작하여 학습 효율 향상</a:t>
                      </a:r>
                      <a:endParaRPr lang="en-US" altLang="ko-KR" sz="1100" b="0" dirty="0">
                        <a:solidFill>
                          <a:srgbClr val="263238"/>
                        </a:solidFill>
                        <a:latin typeface="+mn-ea"/>
                        <a:ea typeface="+mn-ea"/>
                        <a:cs typeface="Source Sans Pro"/>
                        <a:sym typeface="Source Sans Pr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제한된 리소스 환경에 적합</a:t>
                      </a:r>
                      <a:endParaRPr sz="1100" b="0" dirty="0">
                        <a:solidFill>
                          <a:srgbClr val="263238"/>
                        </a:solidFill>
                        <a:latin typeface="+mn-ea"/>
                        <a:ea typeface="+mn-ea"/>
                        <a:cs typeface="Source Sans Pro"/>
                        <a:sym typeface="Source Sans Pr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759424"/>
                  </a:ext>
                </a:extLst>
              </a:tr>
            </a:tbl>
          </a:graphicData>
        </a:graphic>
      </p:graphicFrame>
      <p:sp>
        <p:nvSpPr>
          <p:cNvPr id="216" name="Google Shape;216;p25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051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7FDA1D2-4E0D-F194-B17C-8A0816EF1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00" y="1623799"/>
            <a:ext cx="4151512" cy="24487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7AE1FF-25AA-3175-BD8C-F6741D70E66F}"/>
              </a:ext>
            </a:extLst>
          </p:cNvPr>
          <p:cNvSpPr/>
          <p:nvPr/>
        </p:nvSpPr>
        <p:spPr>
          <a:xfrm>
            <a:off x="2540250" y="2330740"/>
            <a:ext cx="2031750" cy="17417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Google Shape;135;p19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0F11BC0-58AE-0575-7A7C-A3D200226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186" y="804354"/>
            <a:ext cx="6353814" cy="204064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7FC8EDF-656E-8529-654E-053775C23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5806" y="3073223"/>
            <a:ext cx="5162573" cy="1448400"/>
          </a:xfrm>
          <a:prstGeom prst="rect">
            <a:avLst/>
          </a:prstGeom>
        </p:spPr>
      </p:pic>
      <p:sp>
        <p:nvSpPr>
          <p:cNvPr id="15" name="Google Shape;214;p25">
            <a:extLst>
              <a:ext uri="{FF2B5EF4-FFF2-40B4-BE49-F238E27FC236}">
                <a16:creationId xmlns:a16="http://schemas.microsoft.com/office/drawing/2014/main" id="{CCDA08BD-3CCA-4BE9-7088-8964DAF6BF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Selection &amp;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27494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7AE1FF-25AA-3175-BD8C-F6741D70E66F}"/>
              </a:ext>
            </a:extLst>
          </p:cNvPr>
          <p:cNvSpPr/>
          <p:nvPr/>
        </p:nvSpPr>
        <p:spPr>
          <a:xfrm>
            <a:off x="2511552" y="2571750"/>
            <a:ext cx="499872" cy="479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Google Shape;132;p19">
            <a:extLst>
              <a:ext uri="{FF2B5EF4-FFF2-40B4-BE49-F238E27FC236}">
                <a16:creationId xmlns:a16="http://schemas.microsoft.com/office/drawing/2014/main" id="{637AD394-A67B-B36C-EAC3-473635AE11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851234"/>
            <a:ext cx="3675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b="1" dirty="0" err="1"/>
              <a:t>Swin</a:t>
            </a:r>
            <a:r>
              <a:rPr lang="en-US" sz="1400" b="1" dirty="0"/>
              <a:t> Transformer</a:t>
            </a:r>
            <a:endParaRPr sz="1400" b="1" dirty="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Tx/>
              <a:buChar char="-"/>
            </a:pPr>
            <a:r>
              <a:rPr lang="en" sz="1200" b="1" dirty="0"/>
              <a:t>To Embedding</a:t>
            </a:r>
          </a:p>
          <a:p>
            <a:pPr marL="742950" lvl="1" indent="-285750">
              <a:buFontTx/>
              <a:buChar char="-"/>
            </a:pPr>
            <a:r>
              <a:rPr lang="en" sz="1200" dirty="0"/>
              <a:t>To Patches: </a:t>
            </a:r>
            <a:r>
              <a:rPr lang="ko-KR" altLang="en-US" sz="1200" dirty="0"/>
              <a:t>입력 이미지를 작은 패치로 분할</a:t>
            </a:r>
            <a:endParaRPr lang="en" sz="1200" dirty="0"/>
          </a:p>
          <a:p>
            <a:pPr marL="742950" lvl="1" indent="-285750">
              <a:buFontTx/>
              <a:buChar char="-"/>
            </a:pPr>
            <a:r>
              <a:rPr lang="en" sz="1200" dirty="0"/>
              <a:t>Add Position Embedding: </a:t>
            </a:r>
            <a:r>
              <a:rPr lang="ko-KR" altLang="en-US" sz="1200" dirty="0"/>
              <a:t>패치의 위치 정보 추가</a:t>
            </a:r>
            <a:endParaRPr lang="en" sz="1200" dirty="0"/>
          </a:p>
          <a:p>
            <a:pPr marL="285750" indent="-285750">
              <a:buFontTx/>
              <a:buChar char="-"/>
            </a:pPr>
            <a:r>
              <a:rPr lang="en-US" sz="1200" b="1" dirty="0" err="1"/>
              <a:t>StageStack</a:t>
            </a:r>
            <a:endParaRPr lang="en" sz="1200" b="1" dirty="0"/>
          </a:p>
          <a:p>
            <a:pPr marL="742950" lvl="1" indent="-285750">
              <a:buFontTx/>
              <a:buChar char="-"/>
            </a:pPr>
            <a:r>
              <a:rPr lang="en-US" sz="1200" dirty="0"/>
              <a:t>Stage: </a:t>
            </a:r>
            <a:r>
              <a:rPr lang="ko-KR" altLang="en-US" sz="1200" dirty="0"/>
              <a:t>여러 개의 </a:t>
            </a:r>
            <a:r>
              <a:rPr lang="en-US" altLang="ko-KR" sz="1200" dirty="0"/>
              <a:t>Transformer </a:t>
            </a:r>
            <a:r>
              <a:rPr lang="ko-KR" altLang="en-US" sz="1200" dirty="0"/>
              <a:t>블록 포함</a:t>
            </a:r>
            <a:endParaRPr lang="en-US" sz="1200" dirty="0"/>
          </a:p>
          <a:p>
            <a:pPr marL="1200150" lvl="2" indent="-285750">
              <a:buFontTx/>
              <a:buChar char="-"/>
            </a:pPr>
            <a:r>
              <a:rPr lang="en-US" sz="1200" dirty="0" err="1"/>
              <a:t>PatchMerging</a:t>
            </a:r>
            <a:r>
              <a:rPr lang="en-US" sz="1200" dirty="0"/>
              <a:t>: </a:t>
            </a:r>
            <a:r>
              <a:rPr lang="ko-KR" altLang="en-US" sz="1200" dirty="0"/>
              <a:t>패치의 차원 감소</a:t>
            </a:r>
            <a:endParaRPr lang="en-US" sz="1200" dirty="0"/>
          </a:p>
          <a:p>
            <a:pPr marL="285750" indent="-285750">
              <a:buFontTx/>
              <a:buChar char="-"/>
            </a:pPr>
            <a:r>
              <a:rPr lang="en-US" sz="1200" b="1" dirty="0" err="1"/>
              <a:t>TransformerBlock</a:t>
            </a:r>
            <a:endParaRPr lang="en-US" sz="1200" b="1" dirty="0"/>
          </a:p>
          <a:p>
            <a:pPr marL="742950" lvl="1" indent="-285750">
              <a:buFontTx/>
              <a:buChar char="-"/>
            </a:pPr>
            <a:r>
              <a:rPr lang="en-US" sz="1200" dirty="0"/>
              <a:t>Residual: </a:t>
            </a:r>
            <a:r>
              <a:rPr lang="ko-KR" altLang="en-US" sz="1200" dirty="0" err="1"/>
              <a:t>잔차</a:t>
            </a:r>
            <a:r>
              <a:rPr lang="ko-KR" altLang="en-US" sz="1200" dirty="0"/>
              <a:t> 연결</a:t>
            </a:r>
            <a:endParaRPr lang="en-US" sz="1200" dirty="0"/>
          </a:p>
          <a:p>
            <a:pPr marL="742950" lvl="1" indent="-285750">
              <a:buFontTx/>
              <a:buChar char="-"/>
            </a:pPr>
            <a:r>
              <a:rPr lang="en-US" sz="1200" dirty="0" err="1"/>
              <a:t>LayerNorm</a:t>
            </a:r>
            <a:r>
              <a:rPr lang="en-US" sz="1200" dirty="0"/>
              <a:t>: </a:t>
            </a:r>
            <a:r>
              <a:rPr lang="ko-KR" altLang="en-US" sz="1200" dirty="0"/>
              <a:t>각 블록의 출력 정규화</a:t>
            </a:r>
            <a:endParaRPr lang="en-US" sz="1200" dirty="0"/>
          </a:p>
          <a:p>
            <a:pPr marL="742950" lvl="1" indent="-285750">
              <a:buFontTx/>
              <a:buChar char="-"/>
            </a:pPr>
            <a:r>
              <a:rPr lang="en-US" sz="1200" dirty="0" err="1"/>
              <a:t>ShiftedWindowAttention</a:t>
            </a:r>
            <a:r>
              <a:rPr lang="en-US" sz="1200" dirty="0"/>
              <a:t>: SW-MSA/W-MSA</a:t>
            </a:r>
          </a:p>
          <a:p>
            <a:pPr marL="742950" lvl="1" indent="-285750">
              <a:buFontTx/>
              <a:buChar char="-"/>
            </a:pPr>
            <a:r>
              <a:rPr lang="en-US" sz="1200" dirty="0" err="1"/>
              <a:t>FeedForward</a:t>
            </a:r>
            <a:r>
              <a:rPr lang="en-US" sz="1200" dirty="0"/>
              <a:t>: </a:t>
            </a:r>
            <a:r>
              <a:rPr lang="ko-KR" altLang="en-US" sz="1200" dirty="0"/>
              <a:t>비선형 활성 함수</a:t>
            </a:r>
            <a:r>
              <a:rPr lang="en-US" altLang="ko-KR" sz="1200" dirty="0"/>
              <a:t>(</a:t>
            </a:r>
            <a:r>
              <a:rPr lang="en-US" altLang="ko-KR" sz="1100" dirty="0" err="1"/>
              <a:t>GeLU</a:t>
            </a:r>
            <a:r>
              <a:rPr lang="en-US" altLang="ko-KR" sz="1100" dirty="0"/>
              <a:t>)</a:t>
            </a:r>
            <a:endParaRPr lang="en-US" sz="1200" dirty="0"/>
          </a:p>
          <a:p>
            <a:pPr marL="285750" indent="-285750">
              <a:buFontTx/>
              <a:buChar char="-"/>
            </a:pPr>
            <a:r>
              <a:rPr lang="en-US" sz="1200" b="1" dirty="0"/>
              <a:t>Head</a:t>
            </a:r>
          </a:p>
          <a:p>
            <a:pPr marL="742950" lvl="1" indent="-285750">
              <a:buFontTx/>
              <a:buChar char="-"/>
            </a:pPr>
            <a:r>
              <a:rPr lang="en-US" sz="1200" dirty="0" err="1"/>
              <a:t>GlobalAvgPool</a:t>
            </a:r>
            <a:r>
              <a:rPr lang="en-US" sz="1200" dirty="0"/>
              <a:t>: </a:t>
            </a:r>
            <a:r>
              <a:rPr lang="ko-KR" altLang="en-US" sz="1200" dirty="0"/>
              <a:t>최종 </a:t>
            </a:r>
            <a:r>
              <a:rPr lang="ko-KR" altLang="en-US" sz="1200" dirty="0" err="1"/>
              <a:t>특징맵</a:t>
            </a:r>
            <a:r>
              <a:rPr lang="ko-KR" altLang="en-US" sz="1200" dirty="0"/>
              <a:t> 평균화</a:t>
            </a:r>
            <a:endParaRPr lang="en-US" altLang="ko-KR" sz="1200" dirty="0"/>
          </a:p>
          <a:p>
            <a:pPr marL="742950" lvl="1" indent="-285750">
              <a:buFontTx/>
              <a:buChar char="-"/>
            </a:pPr>
            <a:r>
              <a:rPr lang="en-US" sz="1200" dirty="0" err="1"/>
              <a:t>Softmax</a:t>
            </a:r>
            <a:r>
              <a:rPr lang="en-US" sz="1200" dirty="0"/>
              <a:t>: </a:t>
            </a:r>
            <a:r>
              <a:rPr lang="ko-KR" altLang="en-US" sz="1200" dirty="0"/>
              <a:t>이미지 분류</a:t>
            </a:r>
            <a:endParaRPr lang="en" sz="1200" dirty="0"/>
          </a:p>
        </p:txBody>
      </p:sp>
      <p:sp>
        <p:nvSpPr>
          <p:cNvPr id="6" name="Google Shape;134;p19">
            <a:extLst>
              <a:ext uri="{FF2B5EF4-FFF2-40B4-BE49-F238E27FC236}">
                <a16:creationId xmlns:a16="http://schemas.microsoft.com/office/drawing/2014/main" id="{83CCB02C-EC96-5F66-AF4F-1C2FFFE10B9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682551" y="1294798"/>
            <a:ext cx="3675300" cy="25296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ko-KR" sz="1200" b="1" dirty="0" err="1"/>
              <a:t>ShiftedWindowAttention</a:t>
            </a:r>
            <a:endParaRPr lang="en-US" altLang="ko-KR" sz="1200" b="1" dirty="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Tx/>
              <a:buChar char="-"/>
            </a:pPr>
            <a:r>
              <a:rPr lang="en-US" altLang="ko-KR" sz="1200" dirty="0" err="1"/>
              <a:t>to_windows</a:t>
            </a:r>
            <a:r>
              <a:rPr lang="en-US" altLang="ko-KR" sz="1200" dirty="0"/>
              <a:t>: </a:t>
            </a:r>
            <a:r>
              <a:rPr lang="ko-KR" altLang="en-US" sz="1200" dirty="0"/>
              <a:t>입력 </a:t>
            </a:r>
            <a:r>
              <a:rPr lang="ko-KR" altLang="en-US" sz="1200" dirty="0" err="1"/>
              <a:t>텐서를</a:t>
            </a:r>
            <a:r>
              <a:rPr lang="ko-KR" altLang="en-US" sz="1200" dirty="0"/>
              <a:t> 여러 개의 윈도우로 분할</a:t>
            </a:r>
            <a:endParaRPr lang="en-US" altLang="ko-KR" sz="1200" dirty="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Tx/>
              <a:buChar char="-"/>
            </a:pPr>
            <a:r>
              <a:rPr lang="en-US" altLang="ko-KR" sz="1200" dirty="0" err="1"/>
              <a:t>from_windows</a:t>
            </a:r>
            <a:r>
              <a:rPr lang="en-US" altLang="ko-KR" sz="1200" dirty="0"/>
              <a:t>: </a:t>
            </a:r>
            <a:r>
              <a:rPr lang="ko-KR" altLang="en-US" sz="1200" dirty="0"/>
              <a:t>분할된 </a:t>
            </a:r>
            <a:r>
              <a:rPr lang="ko-KR" altLang="en-US" sz="1200" dirty="0" err="1"/>
              <a:t>텐서를</a:t>
            </a:r>
            <a:r>
              <a:rPr lang="ko-KR" altLang="en-US" sz="1200" dirty="0"/>
              <a:t> 원래 형태로 병합</a:t>
            </a:r>
            <a:endParaRPr lang="en-US" altLang="ko-KR" sz="1200" dirty="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Tx/>
              <a:buChar char="-"/>
            </a:pPr>
            <a:r>
              <a:rPr lang="en-US" altLang="ko-KR" sz="1200" dirty="0" err="1"/>
              <a:t>split_windows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텐서를</a:t>
            </a:r>
            <a:r>
              <a:rPr lang="ko-KR" altLang="en-US" sz="1200" dirty="0"/>
              <a:t> 윈도우 크기로 분할</a:t>
            </a:r>
            <a:endParaRPr lang="en-US" altLang="ko-KR" sz="1200" dirty="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Tx/>
              <a:buChar char="-"/>
            </a:pPr>
            <a:r>
              <a:rPr lang="en-US" altLang="ko-KR" sz="1200" dirty="0" err="1"/>
              <a:t>merge_windows</a:t>
            </a:r>
            <a:r>
              <a:rPr lang="en-US" altLang="ko-KR" sz="1200" dirty="0"/>
              <a:t>: </a:t>
            </a:r>
            <a:r>
              <a:rPr lang="ko-KR" altLang="en-US" sz="1200" dirty="0"/>
              <a:t>분할된 이미지를 원래 이미지로 병합</a:t>
            </a:r>
            <a:endParaRPr lang="en-US" altLang="ko-KR" sz="1200" dirty="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Tx/>
              <a:buChar char="-"/>
            </a:pPr>
            <a:r>
              <a:rPr lang="en-US" altLang="ko-KR" sz="1200" dirty="0" err="1"/>
              <a:t>get_rel_pos_enc</a:t>
            </a:r>
            <a:r>
              <a:rPr lang="en-US" altLang="ko-KR" sz="1200" dirty="0"/>
              <a:t>: </a:t>
            </a:r>
            <a:r>
              <a:rPr lang="ko-KR" altLang="en-US" sz="1200" dirty="0"/>
              <a:t>상대적 위치 기반으로 위치 인코딩 생성</a:t>
            </a:r>
            <a:endParaRPr lang="en-US" altLang="ko-KR" sz="1200" dirty="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Tx/>
              <a:buChar char="-"/>
            </a:pPr>
            <a:r>
              <a:rPr lang="en-US" altLang="ko-KR" sz="1200" dirty="0" err="1"/>
              <a:t>generate_mask</a:t>
            </a:r>
            <a:r>
              <a:rPr lang="en-US" altLang="ko-KR" sz="1200" dirty="0"/>
              <a:t>: </a:t>
            </a:r>
            <a:r>
              <a:rPr lang="ko-KR" altLang="en-US" sz="1200" dirty="0"/>
              <a:t>윈도우 시프트로 발생하는 경계 처리를 위한 마스크 생성</a:t>
            </a:r>
            <a:endParaRPr lang="en-US" altLang="ko-KR" sz="1200" dirty="0"/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Tx/>
              <a:buChar char="-"/>
            </a:pPr>
            <a:r>
              <a:rPr lang="en-US" altLang="ko-KR" sz="1200" dirty="0" err="1"/>
              <a:t>mask_attention</a:t>
            </a:r>
            <a:r>
              <a:rPr lang="en-US" altLang="ko-KR" sz="1200" dirty="0"/>
              <a:t>: </a:t>
            </a:r>
            <a:r>
              <a:rPr lang="ko-KR" altLang="en-US" sz="1200" dirty="0"/>
              <a:t>생성된 마스크를 사용하여 </a:t>
            </a:r>
            <a:r>
              <a:rPr lang="en-US" altLang="ko-KR" sz="1200" dirty="0"/>
              <a:t>attention </a:t>
            </a:r>
            <a:r>
              <a:rPr lang="ko-KR" altLang="en-US" sz="1200" dirty="0"/>
              <a:t>점수에 </a:t>
            </a:r>
            <a:r>
              <a:rPr lang="ko-KR" altLang="en-US" sz="1200" dirty="0" err="1"/>
              <a:t>마스킹</a:t>
            </a:r>
            <a:r>
              <a:rPr lang="ko-KR" altLang="en-US" sz="1200" dirty="0"/>
              <a:t> 적용</a:t>
            </a:r>
            <a:endParaRPr lang="en-US" altLang="ko-KR" sz="12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10E6BC2-842F-32B3-B1BD-51BF9CFAB151}"/>
              </a:ext>
            </a:extLst>
          </p:cNvPr>
          <p:cNvCxnSpPr>
            <a:cxnSpLocks/>
          </p:cNvCxnSpPr>
          <p:nvPr/>
        </p:nvCxnSpPr>
        <p:spPr>
          <a:xfrm flipV="1">
            <a:off x="4328160" y="1442185"/>
            <a:ext cx="408666" cy="2131595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3530B30-B7D6-CD3D-2C22-50E8108E7042}"/>
              </a:ext>
            </a:extLst>
          </p:cNvPr>
          <p:cNvCxnSpPr>
            <a:cxnSpLocks/>
          </p:cNvCxnSpPr>
          <p:nvPr/>
        </p:nvCxnSpPr>
        <p:spPr>
          <a:xfrm>
            <a:off x="4328160" y="3573780"/>
            <a:ext cx="472440" cy="76962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C3188E9-F97A-DC97-8368-E53131627F7D}"/>
              </a:ext>
            </a:extLst>
          </p:cNvPr>
          <p:cNvCxnSpPr>
            <a:cxnSpLocks/>
          </p:cNvCxnSpPr>
          <p:nvPr/>
        </p:nvCxnSpPr>
        <p:spPr>
          <a:xfrm>
            <a:off x="4736826" y="1442185"/>
            <a:ext cx="63774" cy="2901215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Google Shape;214;p25">
            <a:extLst>
              <a:ext uri="{FF2B5EF4-FFF2-40B4-BE49-F238E27FC236}">
                <a16:creationId xmlns:a16="http://schemas.microsoft.com/office/drawing/2014/main" id="{175E8AA0-EB46-C31A-B13D-BA40285AA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Selection &amp;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96737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4" name="Google Shape;214;p25">
            <a:extLst>
              <a:ext uri="{FF2B5EF4-FFF2-40B4-BE49-F238E27FC236}">
                <a16:creationId xmlns:a16="http://schemas.microsoft.com/office/drawing/2014/main" id="{534A2666-5040-C084-67D1-5F3F87C1C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Selection &amp; Implementation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136C7A-727D-C02F-B419-4261DB01B9B4}"/>
              </a:ext>
            </a:extLst>
          </p:cNvPr>
          <p:cNvSpPr txBox="1"/>
          <p:nvPr/>
        </p:nvSpPr>
        <p:spPr>
          <a:xfrm>
            <a:off x="786150" y="988467"/>
            <a:ext cx="761823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ShiftedWindowAttention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"""Shifted Window Attention Module."""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head_dim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Initialize linear layers for QKV projection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to_qkv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.Linear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unifyheads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.Linear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Positional encoding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pos_enc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.Parameter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.register_buffer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relative_indices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get_indices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.register_buffer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"mask"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generate_mask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3" name="Google Shape;111;p17">
            <a:extLst>
              <a:ext uri="{FF2B5EF4-FFF2-40B4-BE49-F238E27FC236}">
                <a16:creationId xmlns:a16="http://schemas.microsoft.com/office/drawing/2014/main" id="{EE06F6B6-25CE-AEF3-8136-221F1F0E8DD7}"/>
              </a:ext>
            </a:extLst>
          </p:cNvPr>
          <p:cNvSpPr txBox="1">
            <a:spLocks/>
          </p:cNvSpPr>
          <p:nvPr/>
        </p:nvSpPr>
        <p:spPr>
          <a:xfrm>
            <a:off x="786150" y="4441780"/>
            <a:ext cx="7571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◎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◉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400" dirty="0">
                <a:latin typeface="+mn-ea"/>
                <a:ea typeface="+mn-ea"/>
              </a:rPr>
              <a:t>GitHub Link</a:t>
            </a:r>
            <a:r>
              <a:rPr lang="en-US" sz="1400">
                <a:latin typeface="+mn-ea"/>
                <a:ea typeface="+mn-ea"/>
              </a:rPr>
              <a:t>: https://github.com/kkaorssi/ViT_Classification</a:t>
            </a:r>
            <a:endParaRPr 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96179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909D5F-B532-E9A0-C660-0CA6FAA88CB2}"/>
              </a:ext>
            </a:extLst>
          </p:cNvPr>
          <p:cNvSpPr txBox="1"/>
          <p:nvPr/>
        </p:nvSpPr>
        <p:spPr>
          <a:xfrm>
            <a:off x="786150" y="988467"/>
            <a:ext cx="761823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forward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to_windows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Partition into windows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qkv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to_qkv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).unflatten(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head_dim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)).transpose(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queries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qkv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.unbind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queries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.transpose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get_rel_pos_enc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Add relative position encoding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mask_attention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Apply mask if needed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.softmax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values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.transpose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).contiguous().flatten(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Move heads back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unifyheads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from_windows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Undo partitioning into windows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5" name="Google Shape;135;p19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4" name="Google Shape;214;p25">
            <a:extLst>
              <a:ext uri="{FF2B5EF4-FFF2-40B4-BE49-F238E27FC236}">
                <a16:creationId xmlns:a16="http://schemas.microsoft.com/office/drawing/2014/main" id="{534A2666-5040-C084-67D1-5F3F87C1C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Selection &amp;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025866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8CE553-F46F-05CA-9D39-51EF7BB7E887}"/>
              </a:ext>
            </a:extLst>
          </p:cNvPr>
          <p:cNvSpPr txBox="1"/>
          <p:nvPr/>
        </p:nvSpPr>
        <p:spPr>
          <a:xfrm>
            <a:off x="786150" y="988467"/>
            <a:ext cx="761823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to_windows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"""Convert input to windows."""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.unflatten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.roll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split_windows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from_windows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"""Merge windows back into the original shape."""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merge_windows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.roll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dims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.flatten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mask_attention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"""Mask attention scores."""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num_win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.mask.size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.unflatten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num_win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num_win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.masked_fill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.mask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'-inf'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.flatten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35" name="Google Shape;135;p19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4" name="Google Shape;214;p25">
            <a:extLst>
              <a:ext uri="{FF2B5EF4-FFF2-40B4-BE49-F238E27FC236}">
                <a16:creationId xmlns:a16="http://schemas.microsoft.com/office/drawing/2014/main" id="{534A2666-5040-C084-67D1-5F3F87C1C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Selection &amp;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949890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14" name="Google Shape;214;p25">
            <a:extLst>
              <a:ext uri="{FF2B5EF4-FFF2-40B4-BE49-F238E27FC236}">
                <a16:creationId xmlns:a16="http://schemas.microsoft.com/office/drawing/2014/main" id="{534A2666-5040-C084-67D1-5F3F87C1C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Selection &amp; Implementation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EF4308-0858-3EF7-3D8A-F4FAE85C586C}"/>
              </a:ext>
            </a:extLst>
          </p:cNvPr>
          <p:cNvSpPr txBox="1"/>
          <p:nvPr/>
        </p:nvSpPr>
        <p:spPr>
          <a:xfrm>
            <a:off x="786150" y="988467"/>
            <a:ext cx="761823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get_rel_pos_enc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"""Get relative position encoding."""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.relative_indices.expand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rel_pos_enc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pos_enc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.gather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).unflatten(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rel_pos_enc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staticmethod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generate_mask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"""Generate attention mask."""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region_mask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.full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.long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slices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slice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slice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slice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shift_size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zip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slices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region_mask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[:,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:]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idx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mask_windows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ShiftedWindowAttention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split_windows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region_mask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).squeeze(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diff_mask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mask_windows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.unsqueeze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mask_windows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.unsqueeze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mask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diff_mask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mask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.unsqueeze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unsqueeze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altLang="ko-K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Add heads and batch dimension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067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4" name="Google Shape;214;p25">
            <a:extLst>
              <a:ext uri="{FF2B5EF4-FFF2-40B4-BE49-F238E27FC236}">
                <a16:creationId xmlns:a16="http://schemas.microsoft.com/office/drawing/2014/main" id="{534A2666-5040-C084-67D1-5F3F87C1C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Selection &amp; Implementation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2B08C-9C61-6872-D4AB-8BCC0824A970}"/>
              </a:ext>
            </a:extLst>
          </p:cNvPr>
          <p:cNvSpPr txBox="1"/>
          <p:nvPr/>
        </p:nvSpPr>
        <p:spPr>
          <a:xfrm>
            <a:off x="786150" y="988467"/>
            <a:ext cx="76182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staticmethod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split_windows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"""Split the input tensor into windows."""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.unflatten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)).unflatten(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.transpose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).flatten(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).flatten(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</a:p>
          <a:p>
            <a:b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staticmethod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merge_windows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"""Merge windows back into a single tensor."""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.unflatten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)).unflatten(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n_h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n_w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)).transpose(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.flatten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).flatten(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3615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4" name="Google Shape;214;p25">
            <a:extLst>
              <a:ext uri="{FF2B5EF4-FFF2-40B4-BE49-F238E27FC236}">
                <a16:creationId xmlns:a16="http://schemas.microsoft.com/office/drawing/2014/main" id="{534A2666-5040-C084-67D1-5F3F87C1C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Selection &amp; Implementation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2B08C-9C61-6872-D4AB-8BCC0824A970}"/>
              </a:ext>
            </a:extLst>
          </p:cNvPr>
          <p:cNvSpPr txBox="1"/>
          <p:nvPr/>
        </p:nvSpPr>
        <p:spPr>
          <a:xfrm>
            <a:off x="786150" y="988467"/>
            <a:ext cx="76182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staticmethod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get_indices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.Tensor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"""Generate relative position indices for windows."""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.arange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.long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torch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.meshgrid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indexing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ij</a:t>
            </a:r>
            <a:r>
              <a:rPr lang="en-US" altLang="ko-KR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window_size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altLang="ko-K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indices</a:t>
            </a:r>
            <a:r>
              <a:rPr lang="en-US" altLang="ko-KR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.flatten</a:t>
            </a:r>
            <a:r>
              <a:rPr lang="en-US" altLang="ko-K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53533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ctrTitle"/>
          </p:nvPr>
        </p:nvSpPr>
        <p:spPr>
          <a:xfrm>
            <a:off x="591312" y="1991850"/>
            <a:ext cx="7961375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Preprocessing</a:t>
            </a:r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5557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Preprocessing</a:t>
            </a:r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786150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Complex </a:t>
            </a:r>
            <a:r>
              <a:rPr lang="en-US" altLang="ko-KR" b="1" dirty="0"/>
              <a:t>Augment </a:t>
            </a:r>
            <a:r>
              <a:rPr lang="en-US" b="1" dirty="0"/>
              <a:t>(Paper)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/>
              <a:t>RandAugment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/>
              <a:t>Mixup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/>
              <a:t>Cutmix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/>
              <a:t>RandomErasing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/>
              <a:t>StochasticDepth</a:t>
            </a:r>
            <a:endParaRPr lang="en-US" dirty="0"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2"/>
          </p:nvPr>
        </p:nvSpPr>
        <p:spPr>
          <a:xfrm>
            <a:off x="3329992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Simple Augment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RandomCrop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RandomHorizontalFlip</a:t>
            </a:r>
            <a:endParaRPr dirty="0"/>
          </a:p>
        </p:txBody>
      </p:sp>
      <p:sp>
        <p:nvSpPr>
          <p:cNvPr id="143" name="Google Shape;143;p20"/>
          <p:cNvSpPr txBox="1">
            <a:spLocks noGrp="1"/>
          </p:cNvSpPr>
          <p:nvPr>
            <p:ph type="body" idx="3"/>
          </p:nvPr>
        </p:nvSpPr>
        <p:spPr>
          <a:xfrm>
            <a:off x="5873834" y="1200150"/>
            <a:ext cx="2419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Standard Augment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/>
              <a:t>RandomCrop</a:t>
            </a: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/>
              <a:t>RandomHorizonalFlip</a:t>
            </a: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/>
              <a:t>ColorJitter</a:t>
            </a: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Normalize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3" name="Google Shape;111;p17">
            <a:extLst>
              <a:ext uri="{FF2B5EF4-FFF2-40B4-BE49-F238E27FC236}">
                <a16:creationId xmlns:a16="http://schemas.microsoft.com/office/drawing/2014/main" id="{A7E543D3-20D0-BE42-3F24-2472E1716518}"/>
              </a:ext>
            </a:extLst>
          </p:cNvPr>
          <p:cNvSpPr txBox="1">
            <a:spLocks/>
          </p:cNvSpPr>
          <p:nvPr/>
        </p:nvSpPr>
        <p:spPr>
          <a:xfrm>
            <a:off x="786150" y="3389376"/>
            <a:ext cx="7571700" cy="1445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◎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◉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endParaRPr lang="en-US" altLang="ko-KR" sz="1400" b="1" dirty="0">
              <a:latin typeface="+mn-ea"/>
              <a:ea typeface="+mn-ea"/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1400" dirty="0" err="1">
                <a:latin typeface="+mn-ea"/>
                <a:ea typeface="+mn-ea"/>
              </a:rPr>
              <a:t>Swin</a:t>
            </a:r>
            <a:r>
              <a:rPr lang="en-US" sz="1400" dirty="0">
                <a:latin typeface="+mn-ea"/>
                <a:ea typeface="+mn-ea"/>
              </a:rPr>
              <a:t> Transformer </a:t>
            </a:r>
            <a:r>
              <a:rPr lang="ko-KR" altLang="en-US" sz="1400" dirty="0">
                <a:latin typeface="+mn-ea"/>
                <a:ea typeface="+mn-ea"/>
              </a:rPr>
              <a:t>논문에서 적용한 데이터 증강 기법은 </a:t>
            </a:r>
            <a:r>
              <a:rPr lang="en-US" altLang="ko-KR" sz="1400" dirty="0">
                <a:latin typeface="+mn-ea"/>
                <a:ea typeface="+mn-ea"/>
              </a:rPr>
              <a:t>ImageNet</a:t>
            </a:r>
            <a:r>
              <a:rPr lang="ko-KR" altLang="en-US" sz="1400" dirty="0">
                <a:latin typeface="+mn-ea"/>
                <a:ea typeface="+mn-ea"/>
              </a:rPr>
              <a:t>에 적용한 기법으로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큰 데이터셋에서 복잡한 이미지 특성을 처리하기 위해 설계된 기법이다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latin typeface="+mn-ea"/>
                <a:ea typeface="+mn-ea"/>
              </a:rPr>
              <a:t>CIFAR10</a:t>
            </a:r>
            <a:r>
              <a:rPr lang="ko-KR" altLang="en-US" sz="1400" dirty="0">
                <a:latin typeface="+mn-ea"/>
                <a:ea typeface="+mn-ea"/>
              </a:rPr>
              <a:t>은 저해상도의 작은 데이터셋으로 간단한 증강만으로도 충분한 성능을 낼 수 있으며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오히려 과한 증강은 학습에 혼란을 줄 수 있다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  <a:endParaRPr 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24105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Preprocessing</a:t>
            </a:r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CA143E-D78B-0032-531A-22B5B24E2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5092" y="3088290"/>
            <a:ext cx="4258232" cy="166156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9C4129D-9C39-5A0F-43CA-6D078DD3E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5092" y="1205098"/>
            <a:ext cx="4258232" cy="1758835"/>
          </a:xfrm>
          <a:prstGeom prst="rect">
            <a:avLst/>
          </a:prstGeom>
        </p:spPr>
      </p:pic>
      <p:sp>
        <p:nvSpPr>
          <p:cNvPr id="6" name="Google Shape;141;p20">
            <a:extLst>
              <a:ext uri="{FF2B5EF4-FFF2-40B4-BE49-F238E27FC236}">
                <a16:creationId xmlns:a16="http://schemas.microsoft.com/office/drawing/2014/main" id="{E985499B-19C0-9B6A-F8FB-7D00DCF5B9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4230" y="1837246"/>
            <a:ext cx="2419800" cy="4945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ko-KR" b="1" dirty="0"/>
              <a:t>Simple Augment</a:t>
            </a:r>
          </a:p>
        </p:txBody>
      </p:sp>
      <p:sp>
        <p:nvSpPr>
          <p:cNvPr id="7" name="Google Shape;141;p20">
            <a:extLst>
              <a:ext uri="{FF2B5EF4-FFF2-40B4-BE49-F238E27FC236}">
                <a16:creationId xmlns:a16="http://schemas.microsoft.com/office/drawing/2014/main" id="{E55695F7-8E1E-2632-4162-943C21B6CD33}"/>
              </a:ext>
            </a:extLst>
          </p:cNvPr>
          <p:cNvSpPr txBox="1">
            <a:spLocks/>
          </p:cNvSpPr>
          <p:nvPr/>
        </p:nvSpPr>
        <p:spPr>
          <a:xfrm>
            <a:off x="664230" y="3671801"/>
            <a:ext cx="2419800" cy="4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◎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◉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altLang="ko-KR" b="1" dirty="0"/>
              <a:t>Standard Augment</a:t>
            </a:r>
          </a:p>
        </p:txBody>
      </p:sp>
    </p:spTree>
    <p:extLst>
      <p:ext uri="{BB962C8B-B14F-4D97-AF65-F5344CB8AC3E}">
        <p14:creationId xmlns:p14="http://schemas.microsoft.com/office/powerpoint/2010/main" val="1216579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ctrTitle"/>
          </p:nvPr>
        </p:nvSpPr>
        <p:spPr>
          <a:xfrm>
            <a:off x="591312" y="1991850"/>
            <a:ext cx="7961375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Fine-Tuning </a:t>
            </a:r>
            <a:br>
              <a:rPr lang="en-US" dirty="0"/>
            </a:br>
            <a:r>
              <a:rPr lang="en-US" dirty="0"/>
              <a:t>&amp; Training Strategy</a:t>
            </a:r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5615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Fine-Tuning &amp; Training Strategy</a:t>
            </a:r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4" name="Google Shape;141;p20">
            <a:extLst>
              <a:ext uri="{FF2B5EF4-FFF2-40B4-BE49-F238E27FC236}">
                <a16:creationId xmlns:a16="http://schemas.microsoft.com/office/drawing/2014/main" id="{5F8C8D2E-348A-C12E-443D-7A2C44A26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9196" y="1564450"/>
            <a:ext cx="2419800" cy="4945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ko-KR" b="1" dirty="0" err="1"/>
              <a:t>AdamW</a:t>
            </a:r>
            <a:endParaRPr lang="en-US" altLang="ko-KR" b="1" dirty="0"/>
          </a:p>
        </p:txBody>
      </p:sp>
      <p:sp>
        <p:nvSpPr>
          <p:cNvPr id="5" name="Google Shape;141;p20">
            <a:extLst>
              <a:ext uri="{FF2B5EF4-FFF2-40B4-BE49-F238E27FC236}">
                <a16:creationId xmlns:a16="http://schemas.microsoft.com/office/drawing/2014/main" id="{4E981D14-2BBF-33C5-D5D2-535A2C7D7C3D}"/>
              </a:ext>
            </a:extLst>
          </p:cNvPr>
          <p:cNvSpPr txBox="1">
            <a:spLocks/>
          </p:cNvSpPr>
          <p:nvPr/>
        </p:nvSpPr>
        <p:spPr>
          <a:xfrm>
            <a:off x="1129196" y="3830999"/>
            <a:ext cx="2419800" cy="4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◎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◉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altLang="ko-KR" b="1" dirty="0" err="1"/>
              <a:t>AdamP</a:t>
            </a:r>
            <a:endParaRPr lang="en-US" altLang="ko-KR" b="1" dirty="0"/>
          </a:p>
        </p:txBody>
      </p:sp>
      <p:sp>
        <p:nvSpPr>
          <p:cNvPr id="6" name="Google Shape;141;p20">
            <a:extLst>
              <a:ext uri="{FF2B5EF4-FFF2-40B4-BE49-F238E27FC236}">
                <a16:creationId xmlns:a16="http://schemas.microsoft.com/office/drawing/2014/main" id="{8A237FAF-DAC9-C12F-F845-6A3B80ACB0DE}"/>
              </a:ext>
            </a:extLst>
          </p:cNvPr>
          <p:cNvSpPr txBox="1">
            <a:spLocks/>
          </p:cNvSpPr>
          <p:nvPr/>
        </p:nvSpPr>
        <p:spPr>
          <a:xfrm>
            <a:off x="1129196" y="2716664"/>
            <a:ext cx="2419800" cy="4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◎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◉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altLang="ko-KR" b="1" dirty="0"/>
              <a:t>SGD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C838AB-7DED-B2EF-EB3C-F133F99ED8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461"/>
          <a:stretch/>
        </p:blipFill>
        <p:spPr>
          <a:xfrm>
            <a:off x="3756573" y="1415757"/>
            <a:ext cx="4258231" cy="88796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6CB2300-979C-7BEE-A7CA-647EF3A15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573" y="2536556"/>
            <a:ext cx="4258231" cy="85475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04CCD94-07A5-A67B-1923-E62652C18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6572" y="3671801"/>
            <a:ext cx="4258231" cy="81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06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Fine-Tuning &amp; Training Strategy</a:t>
            </a:r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2F91DD6-8C61-2450-CCFD-150B591376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5090" y="3039827"/>
            <a:ext cx="4258231" cy="175697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F5FBBB9-0DE4-D93C-0F28-6131E27400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45092" y="1252225"/>
            <a:ext cx="4258232" cy="1664581"/>
          </a:xfrm>
          <a:prstGeom prst="rect">
            <a:avLst/>
          </a:prstGeom>
        </p:spPr>
      </p:pic>
      <p:sp>
        <p:nvSpPr>
          <p:cNvPr id="4" name="Google Shape;141;p20">
            <a:extLst>
              <a:ext uri="{FF2B5EF4-FFF2-40B4-BE49-F238E27FC236}">
                <a16:creationId xmlns:a16="http://schemas.microsoft.com/office/drawing/2014/main" id="{5F8C8D2E-348A-C12E-443D-7A2C44A26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4230" y="1837246"/>
            <a:ext cx="2419800" cy="4945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ko-KR" b="1" dirty="0"/>
              <a:t>Cosine Annealing</a:t>
            </a:r>
          </a:p>
        </p:txBody>
      </p:sp>
      <p:sp>
        <p:nvSpPr>
          <p:cNvPr id="5" name="Google Shape;141;p20">
            <a:extLst>
              <a:ext uri="{FF2B5EF4-FFF2-40B4-BE49-F238E27FC236}">
                <a16:creationId xmlns:a16="http://schemas.microsoft.com/office/drawing/2014/main" id="{4E981D14-2BBF-33C5-D5D2-535A2C7D7C3D}"/>
              </a:ext>
            </a:extLst>
          </p:cNvPr>
          <p:cNvSpPr txBox="1">
            <a:spLocks/>
          </p:cNvSpPr>
          <p:nvPr/>
        </p:nvSpPr>
        <p:spPr>
          <a:xfrm>
            <a:off x="664230" y="3671801"/>
            <a:ext cx="2419800" cy="4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◎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◉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altLang="ko-KR" b="1" dirty="0"/>
              <a:t>One Cycle</a:t>
            </a:r>
          </a:p>
        </p:txBody>
      </p:sp>
    </p:spTree>
    <p:extLst>
      <p:ext uri="{BB962C8B-B14F-4D97-AF65-F5344CB8AC3E}">
        <p14:creationId xmlns:p14="http://schemas.microsoft.com/office/powerpoint/2010/main" val="3847241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ctrTitle"/>
          </p:nvPr>
        </p:nvSpPr>
        <p:spPr>
          <a:xfrm>
            <a:off x="591312" y="1991850"/>
            <a:ext cx="7961375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Performance Evaluation</a:t>
            </a:r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2756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Preprocessing</a:t>
            </a:r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0A5254-4C5C-FC96-8C1C-4EE1D2F6F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027" y="1382392"/>
            <a:ext cx="3706463" cy="2974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E28D51D-25B0-104C-5FF7-28D09CDB4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18510" y="1405500"/>
            <a:ext cx="3706463" cy="2928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88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Preprocessing</a:t>
            </a:r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graphicFrame>
        <p:nvGraphicFramePr>
          <p:cNvPr id="8" name="Google Shape;215;p25">
            <a:extLst>
              <a:ext uri="{FF2B5EF4-FFF2-40B4-BE49-F238E27FC236}">
                <a16:creationId xmlns:a16="http://schemas.microsoft.com/office/drawing/2014/main" id="{E685CF0F-2304-B10A-4BCF-0BD756B5D1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925653"/>
              </p:ext>
            </p:extLst>
          </p:nvPr>
        </p:nvGraphicFramePr>
        <p:xfrm>
          <a:off x="1013670" y="1820212"/>
          <a:ext cx="7116660" cy="1503075"/>
        </p:xfrm>
        <a:graphic>
          <a:graphicData uri="http://schemas.openxmlformats.org/drawingml/2006/table">
            <a:tbl>
              <a:tblPr>
                <a:noFill/>
                <a:tableStyleId>{701FB10D-A61A-4DE4-8506-F670E7A89527}</a:tableStyleId>
              </a:tblPr>
              <a:tblGrid>
                <a:gridCol w="1473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0793">
                  <a:extLst>
                    <a:ext uri="{9D8B030D-6E8A-4147-A177-3AD203B41FA5}">
                      <a16:colId xmlns:a16="http://schemas.microsoft.com/office/drawing/2014/main" val="3324954802"/>
                    </a:ext>
                  </a:extLst>
                </a:gridCol>
                <a:gridCol w="1410793">
                  <a:extLst>
                    <a:ext uri="{9D8B030D-6E8A-4147-A177-3AD203B41FA5}">
                      <a16:colId xmlns:a16="http://schemas.microsoft.com/office/drawing/2014/main" val="377583226"/>
                    </a:ext>
                  </a:extLst>
                </a:gridCol>
                <a:gridCol w="1410793">
                  <a:extLst>
                    <a:ext uri="{9D8B030D-6E8A-4147-A177-3AD203B41FA5}">
                      <a16:colId xmlns:a16="http://schemas.microsoft.com/office/drawing/2014/main" val="4010193681"/>
                    </a:ext>
                  </a:extLst>
                </a:gridCol>
                <a:gridCol w="1410793">
                  <a:extLst>
                    <a:ext uri="{9D8B030D-6E8A-4147-A177-3AD203B41FA5}">
                      <a16:colId xmlns:a16="http://schemas.microsoft.com/office/drawing/2014/main" val="2988974465"/>
                    </a:ext>
                  </a:extLst>
                </a:gridCol>
              </a:tblGrid>
              <a:tr h="501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Accuracy</a:t>
                      </a:r>
                      <a:endParaRPr sz="1100" dirty="0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Precision</a:t>
                      </a:r>
                      <a:endParaRPr sz="1100" dirty="0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Recall</a:t>
                      </a:r>
                      <a:endParaRPr sz="1100" dirty="0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F1-Score</a:t>
                      </a:r>
                      <a:endParaRPr sz="1100" dirty="0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Swin</a:t>
                      </a:r>
                      <a:r>
                        <a:rPr lang="ko-KR" altLang="en-US" sz="1100" dirty="0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Transformer</a:t>
                      </a:r>
                      <a:endParaRPr lang="en-US" sz="1100" dirty="0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0.905</a:t>
                      </a:r>
                      <a:endParaRPr sz="1100" b="0" dirty="0">
                        <a:solidFill>
                          <a:srgbClr val="263238"/>
                        </a:solidFill>
                        <a:latin typeface="+mn-ea"/>
                        <a:ea typeface="+mn-ea"/>
                        <a:cs typeface="Source Sans Pro"/>
                        <a:sym typeface="Source Sans Pr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0.91</a:t>
                      </a:r>
                      <a:endParaRPr sz="1100" b="0" dirty="0">
                        <a:solidFill>
                          <a:srgbClr val="263238"/>
                        </a:solidFill>
                        <a:latin typeface="+mn-ea"/>
                        <a:ea typeface="+mn-ea"/>
                        <a:cs typeface="Source Sans Pro"/>
                        <a:sym typeface="Source Sans Pr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0.90</a:t>
                      </a:r>
                      <a:endParaRPr sz="1100" b="0" dirty="0">
                        <a:solidFill>
                          <a:srgbClr val="263238"/>
                        </a:solidFill>
                        <a:latin typeface="+mn-ea"/>
                        <a:ea typeface="+mn-ea"/>
                        <a:cs typeface="Source Sans Pro"/>
                        <a:sym typeface="Source Sans Pr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0.90</a:t>
                      </a:r>
                      <a:endParaRPr sz="1100" b="0" dirty="0">
                        <a:solidFill>
                          <a:srgbClr val="263238"/>
                        </a:solidFill>
                        <a:latin typeface="+mn-ea"/>
                        <a:ea typeface="+mn-ea"/>
                        <a:cs typeface="Source Sans Pro"/>
                        <a:sym typeface="Source Sans Pr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rgbClr val="607D8B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EfficientNet</a:t>
                      </a:r>
                      <a:endParaRPr lang="en-US" sz="1100" dirty="0">
                        <a:solidFill>
                          <a:srgbClr val="607D8B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0.949</a:t>
                      </a:r>
                      <a:endParaRPr lang="ko-KR" altLang="en-US" sz="1100" b="0" dirty="0">
                        <a:solidFill>
                          <a:srgbClr val="263238"/>
                        </a:solidFill>
                        <a:latin typeface="+mn-ea"/>
                        <a:ea typeface="+mn-ea"/>
                        <a:cs typeface="Source Sans Pro"/>
                        <a:sym typeface="Source Sans Pr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0.95</a:t>
                      </a:r>
                      <a:endParaRPr lang="ko-KR" altLang="en-US" sz="1100" b="0" dirty="0">
                        <a:solidFill>
                          <a:srgbClr val="263238"/>
                        </a:solidFill>
                        <a:latin typeface="+mn-ea"/>
                        <a:ea typeface="+mn-ea"/>
                        <a:cs typeface="Source Sans Pro"/>
                        <a:sym typeface="Source Sans Pr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0.95</a:t>
                      </a:r>
                      <a:endParaRPr lang="ko-KR" altLang="en-US" sz="1100" b="0" dirty="0">
                        <a:solidFill>
                          <a:srgbClr val="263238"/>
                        </a:solidFill>
                        <a:latin typeface="+mn-ea"/>
                        <a:ea typeface="+mn-ea"/>
                        <a:cs typeface="Source Sans Pro"/>
                        <a:sym typeface="Source Sans Pr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b="0" dirty="0">
                          <a:solidFill>
                            <a:srgbClr val="263238"/>
                          </a:solidFill>
                          <a:latin typeface="+mn-ea"/>
                          <a:ea typeface="+mn-ea"/>
                          <a:cs typeface="Source Sans Pro"/>
                          <a:sym typeface="Source Sans Pro"/>
                        </a:rPr>
                        <a:t>0.95</a:t>
                      </a:r>
                      <a:endParaRPr lang="ko-KR" altLang="en-US" sz="1100" b="0" dirty="0">
                        <a:solidFill>
                          <a:srgbClr val="263238"/>
                        </a:solidFill>
                        <a:latin typeface="+mn-ea"/>
                        <a:ea typeface="+mn-ea"/>
                        <a:cs typeface="Source Sans Pro"/>
                        <a:sym typeface="Source Sans Pro"/>
                      </a:endParaRPr>
                    </a:p>
                  </a:txBody>
                  <a:tcPr marL="91425" marR="91425" marT="68575" marB="6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182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ctrTitle"/>
          </p:nvPr>
        </p:nvSpPr>
        <p:spPr>
          <a:xfrm>
            <a:off x="591312" y="1991850"/>
            <a:ext cx="7961375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 &amp; Future Work</a:t>
            </a:r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4294967295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0087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 &amp; Future Work</a:t>
            </a:r>
          </a:p>
        </p:txBody>
      </p:sp>
      <p:sp>
        <p:nvSpPr>
          <p:cNvPr id="135" name="Google Shape;135;p19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6" name="Google Shape;111;p17">
            <a:extLst>
              <a:ext uri="{FF2B5EF4-FFF2-40B4-BE49-F238E27FC236}">
                <a16:creationId xmlns:a16="http://schemas.microsoft.com/office/drawing/2014/main" id="{A8562BF6-1CD1-7BD6-CF52-115CECBE11D9}"/>
              </a:ext>
            </a:extLst>
          </p:cNvPr>
          <p:cNvSpPr txBox="1">
            <a:spLocks/>
          </p:cNvSpPr>
          <p:nvPr/>
        </p:nvSpPr>
        <p:spPr>
          <a:xfrm>
            <a:off x="786150" y="3073756"/>
            <a:ext cx="7571700" cy="1445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◎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◉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ko-KR" altLang="en-US" sz="1400" b="1" dirty="0">
                <a:latin typeface="+mn-ea"/>
                <a:ea typeface="+mn-ea"/>
              </a:rPr>
              <a:t>개선 방안</a:t>
            </a:r>
            <a:endParaRPr lang="en-US" altLang="ko-KR" sz="1400" b="1" dirty="0">
              <a:latin typeface="+mn-ea"/>
              <a:ea typeface="+mn-ea"/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n-ea"/>
                <a:ea typeface="+mn-ea"/>
              </a:rPr>
              <a:t>Self-Supervised Learning</a:t>
            </a:r>
            <a:r>
              <a:rPr lang="ko-KR" altLang="en-US" sz="1400" dirty="0">
                <a:latin typeface="+mn-ea"/>
                <a:ea typeface="+mn-ea"/>
              </a:rPr>
              <a:t>의 적용 가능성</a:t>
            </a:r>
            <a:endParaRPr lang="en-US" altLang="ko-KR" sz="1400" dirty="0">
              <a:latin typeface="+mn-ea"/>
              <a:ea typeface="+mn-ea"/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latin typeface="+mn-ea"/>
                <a:ea typeface="+mn-ea"/>
              </a:rPr>
              <a:t>Activation Function, Weight Initialization, Loss Function </a:t>
            </a:r>
            <a:r>
              <a:rPr lang="ko-KR" altLang="en-US" sz="1400" dirty="0">
                <a:latin typeface="+mn-ea"/>
                <a:ea typeface="+mn-ea"/>
              </a:rPr>
              <a:t>등 다양한 기법 교체 및 비교</a:t>
            </a:r>
            <a:endParaRPr lang="en-US" altLang="ko-KR" sz="1400" dirty="0">
              <a:latin typeface="+mn-ea"/>
              <a:ea typeface="+mn-ea"/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latin typeface="+mn-ea"/>
                <a:ea typeface="+mn-ea"/>
              </a:rPr>
              <a:t>Hyperparameter </a:t>
            </a:r>
            <a:r>
              <a:rPr lang="ko-KR" altLang="en-US" sz="1400" dirty="0">
                <a:latin typeface="+mn-ea"/>
                <a:ea typeface="+mn-ea"/>
              </a:rPr>
              <a:t>튜닝</a:t>
            </a:r>
            <a:endParaRPr lang="en-US" sz="1400" dirty="0">
              <a:latin typeface="+mn-ea"/>
              <a:ea typeface="+mn-ea"/>
            </a:endParaRPr>
          </a:p>
        </p:txBody>
      </p:sp>
      <p:sp>
        <p:nvSpPr>
          <p:cNvPr id="7" name="Google Shape;111;p17">
            <a:extLst>
              <a:ext uri="{FF2B5EF4-FFF2-40B4-BE49-F238E27FC236}">
                <a16:creationId xmlns:a16="http://schemas.microsoft.com/office/drawing/2014/main" id="{C8000C9A-1ED1-4A69-21C1-2888656A76A2}"/>
              </a:ext>
            </a:extLst>
          </p:cNvPr>
          <p:cNvSpPr txBox="1">
            <a:spLocks/>
          </p:cNvSpPr>
          <p:nvPr/>
        </p:nvSpPr>
        <p:spPr>
          <a:xfrm>
            <a:off x="786150" y="1319276"/>
            <a:ext cx="7571700" cy="1445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◎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Source Sans Pro"/>
              <a:buChar char="◉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ko-KR" altLang="en-US" sz="1400" b="1" dirty="0">
                <a:latin typeface="+mn-ea"/>
                <a:ea typeface="+mn-ea"/>
              </a:rPr>
              <a:t>결과</a:t>
            </a:r>
            <a:endParaRPr lang="en-US" altLang="ko-KR" sz="1400" b="1" dirty="0">
              <a:latin typeface="+mn-ea"/>
              <a:ea typeface="+mn-ea"/>
            </a:endParaRP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+mn-ea"/>
                <a:ea typeface="+mn-ea"/>
              </a:rPr>
              <a:t>Swin</a:t>
            </a:r>
            <a:r>
              <a:rPr lang="en-US" altLang="ko-KR" sz="1400" dirty="0">
                <a:latin typeface="+mn-ea"/>
                <a:ea typeface="+mn-ea"/>
              </a:rPr>
              <a:t> Transformer</a:t>
            </a:r>
            <a:r>
              <a:rPr lang="ko-KR" altLang="en-US" sz="1400" dirty="0">
                <a:latin typeface="+mn-ea"/>
                <a:ea typeface="+mn-ea"/>
              </a:rPr>
              <a:t>도 전이 학습을 하지 않은 것을 고려할 때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유의미한 성능에 도달하였으나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en-US" altLang="ko-KR" sz="1400" dirty="0" err="1">
                <a:latin typeface="+mn-ea"/>
                <a:ea typeface="+mn-ea"/>
              </a:rPr>
              <a:t>EfficientNet</a:t>
            </a:r>
            <a:r>
              <a:rPr lang="ko-KR" altLang="en-US" sz="1400" dirty="0">
                <a:latin typeface="+mn-ea"/>
                <a:ea typeface="+mn-ea"/>
              </a:rPr>
              <a:t>이 더 높은 점수를 기록하였다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</a:p>
          <a:p>
            <a:pPr marL="285750" indent="-285750">
              <a:buClrTx/>
              <a:buFont typeface="Arial" panose="020B0604020202020204" pitchFamily="34" charset="0"/>
              <a:buChar char="•"/>
            </a:pPr>
            <a:r>
              <a:rPr lang="en-US" sz="1400" dirty="0">
                <a:latin typeface="+mn-ea"/>
                <a:ea typeface="+mn-ea"/>
              </a:rPr>
              <a:t>CIFAR-10</a:t>
            </a:r>
            <a:r>
              <a:rPr lang="ko-KR" altLang="en-US" sz="1400" dirty="0">
                <a:latin typeface="+mn-ea"/>
                <a:ea typeface="+mn-ea"/>
              </a:rPr>
              <a:t>이 저해상도에 작은 </a:t>
            </a:r>
            <a:r>
              <a:rPr lang="ko-KR" altLang="en-US" sz="1400" dirty="0" err="1">
                <a:latin typeface="+mn-ea"/>
                <a:ea typeface="+mn-ea"/>
              </a:rPr>
              <a:t>데이터셋이기</a:t>
            </a:r>
            <a:r>
              <a:rPr lang="ko-KR" altLang="en-US" sz="1400" dirty="0">
                <a:latin typeface="+mn-ea"/>
                <a:ea typeface="+mn-ea"/>
              </a:rPr>
              <a:t> 때문에 이에 적합하지 않은 </a:t>
            </a:r>
            <a:r>
              <a:rPr lang="en-US" altLang="ko-KR" sz="1400" dirty="0" err="1">
                <a:latin typeface="+mn-ea"/>
                <a:ea typeface="+mn-ea"/>
              </a:rPr>
              <a:t>Swin</a:t>
            </a:r>
            <a:r>
              <a:rPr lang="en-US" altLang="ko-KR" sz="1400" dirty="0">
                <a:latin typeface="+mn-ea"/>
                <a:ea typeface="+mn-ea"/>
              </a:rPr>
              <a:t> Transformer</a:t>
            </a:r>
            <a:r>
              <a:rPr lang="ko-KR" altLang="en-US" sz="1400" dirty="0">
                <a:latin typeface="+mn-ea"/>
                <a:ea typeface="+mn-ea"/>
              </a:rPr>
              <a:t>가 상대적으로 낮은 성능이 나온 것으로 보인다</a:t>
            </a:r>
            <a:r>
              <a:rPr lang="en-US" altLang="ko-KR" sz="1400" dirty="0">
                <a:latin typeface="+mn-ea"/>
                <a:ea typeface="+mn-ea"/>
              </a:rPr>
              <a:t>.</a:t>
            </a:r>
            <a:endParaRPr lang="en-US" sz="1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0043975"/>
      </p:ext>
    </p:extLst>
  </p:cSld>
  <p:clrMapOvr>
    <a:masterClrMapping/>
  </p:clrMapOvr>
</p:sld>
</file>

<file path=ppt/theme/theme1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1881</Words>
  <Application>Microsoft Office PowerPoint</Application>
  <PresentationFormat>화면 슬라이드 쇼(16:9)</PresentationFormat>
  <Paragraphs>227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Arial</vt:lpstr>
      <vt:lpstr>Roboto Slab</vt:lpstr>
      <vt:lpstr>Consolas</vt:lpstr>
      <vt:lpstr>Source Sans Pro</vt:lpstr>
      <vt:lpstr>Cordelia template</vt:lpstr>
      <vt:lpstr>Image Classification using Vision Transformers</vt:lpstr>
      <vt:lpstr>Problem Definition  &amp; Objective</vt:lpstr>
      <vt:lpstr>Problem Definition &amp; Objective</vt:lpstr>
      <vt:lpstr>Model Selection  &amp; Implementation</vt:lpstr>
      <vt:lpstr>Model Selection &amp; Implementation</vt:lpstr>
      <vt:lpstr>Model Selection &amp; Implementation</vt:lpstr>
      <vt:lpstr>Model Selection &amp; Implementation</vt:lpstr>
      <vt:lpstr>Model Selection &amp; Implementation</vt:lpstr>
      <vt:lpstr>Model Selection &amp; Implementation</vt:lpstr>
      <vt:lpstr>Model Selection &amp; Implementation</vt:lpstr>
      <vt:lpstr>Model Selection &amp; Implementation</vt:lpstr>
      <vt:lpstr>Model Selection &amp; Implementation</vt:lpstr>
      <vt:lpstr>Model Selection &amp; Implementation</vt:lpstr>
      <vt:lpstr>Data Preprocessing</vt:lpstr>
      <vt:lpstr>Data Preprocessing</vt:lpstr>
      <vt:lpstr>Data Preprocessing</vt:lpstr>
      <vt:lpstr>Fine-Tuning  &amp; Training Strategy</vt:lpstr>
      <vt:lpstr>Fine-Tuning &amp; Training Strategy</vt:lpstr>
      <vt:lpstr>Fine-Tuning &amp; Training Strategy</vt:lpstr>
      <vt:lpstr>Performance Evaluation</vt:lpstr>
      <vt:lpstr>Data Preprocessing</vt:lpstr>
      <vt:lpstr>Data Preprocessing</vt:lpstr>
      <vt:lpstr>Conclusion &amp; Future Work</vt:lpstr>
      <vt:lpstr>Conclusion &amp;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휘성 이</cp:lastModifiedBy>
  <cp:revision>4</cp:revision>
  <dcterms:modified xsi:type="dcterms:W3CDTF">2024-10-04T01:57:34Z</dcterms:modified>
</cp:coreProperties>
</file>